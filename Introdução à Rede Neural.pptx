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Roboto"/>
      <p:regular r:id="rId29"/>
      <p:bold r:id="rId30"/>
      <p:italic r:id="rId31"/>
      <p:boldItalic r:id="rId32"/>
    </p:embeddedFont>
    <p:embeddedFont>
      <p:font typeface="Merriweather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6.xml"/><Relationship Id="rId33" Type="http://schemas.openxmlformats.org/officeDocument/2006/relationships/font" Target="fonts/Merriweather-regular.fntdata"/><Relationship Id="rId10" Type="http://schemas.openxmlformats.org/officeDocument/2006/relationships/slide" Target="slides/slide5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8.xml"/><Relationship Id="rId35" Type="http://schemas.openxmlformats.org/officeDocument/2006/relationships/font" Target="fonts/Merriweather-italic.fntdata"/><Relationship Id="rId12" Type="http://schemas.openxmlformats.org/officeDocument/2006/relationships/slide" Target="slides/slide7.xml"/><Relationship Id="rId34" Type="http://schemas.openxmlformats.org/officeDocument/2006/relationships/font" Target="fonts/Merriweather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Merriweather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8c98b3137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8c98b3137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8c98b3137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8c98b3137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8c98b313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8c98b313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8c98b3137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8c98b3137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8c98b3137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8c98b3137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8c98b3137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f8c98b3137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8c98b3137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8c98b3137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8c98b3137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8c98b3137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8c98b3137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8c98b3137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8c98b3137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8c98b3137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8c98b3137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8c98b313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a680cfdfd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a680cfdfd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a680cfdfd_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a680cfdfd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a680cfdfd_3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fa680cfdfd_3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a680cfdfd_3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a680cfdfd_3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a680cfdfd_3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a680cfdfd_3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a680cfdfd_3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fa680cfdfd_3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8c98b3137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f8c98b3137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8cb5f1b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f8cb5f1b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8cb5f1ba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f8cb5f1ba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8cb5f1ba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f8cb5f1ba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8cb5f1ba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f8cb5f1ba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46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0.png"/><Relationship Id="rId4" Type="http://schemas.openxmlformats.org/officeDocument/2006/relationships/image" Target="../media/image25.png"/><Relationship Id="rId5" Type="http://schemas.openxmlformats.org/officeDocument/2006/relationships/image" Target="../media/image36.png"/><Relationship Id="rId6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2.png"/><Relationship Id="rId4" Type="http://schemas.openxmlformats.org/officeDocument/2006/relationships/image" Target="../media/image42.png"/><Relationship Id="rId5" Type="http://schemas.openxmlformats.org/officeDocument/2006/relationships/image" Target="../media/image45.png"/><Relationship Id="rId6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9.png"/><Relationship Id="rId4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Relationship Id="rId4" Type="http://schemas.openxmlformats.org/officeDocument/2006/relationships/image" Target="../media/image38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1.png"/><Relationship Id="rId4" Type="http://schemas.openxmlformats.org/officeDocument/2006/relationships/image" Target="../media/image3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Introdução à Rede Neural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798193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Me. Pablo Nascimento Mandelo</a:t>
            </a:r>
            <a:br>
              <a:rPr lang="pt-BR"/>
            </a:br>
            <a:r>
              <a:rPr lang="pt-BR"/>
              <a:t>Miriáh Valério Mandelo</a:t>
            </a:r>
            <a:endParaRPr/>
          </a:p>
        </p:txBody>
      </p:sp>
      <p:sp>
        <p:nvSpPr>
          <p:cNvPr id="66" name="Google Shape;66;p13"/>
          <p:cNvSpPr txBox="1"/>
          <p:nvPr>
            <p:ph idx="1" type="subTitle"/>
          </p:nvPr>
        </p:nvSpPr>
        <p:spPr>
          <a:xfrm>
            <a:off x="7515000" y="4133900"/>
            <a:ext cx="13173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IFSC - USP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Aplicações</a:t>
            </a:r>
            <a:endParaRPr/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311700" y="1505700"/>
            <a:ext cx="83547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pt-BR" sz="2200"/>
              <a:t>Simular funções;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pt-BR" sz="2200"/>
              <a:t>Reconhecimento de padrão;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pt-BR" sz="2200"/>
              <a:t>Classificações;</a:t>
            </a:r>
            <a:endParaRPr sz="2200"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Char char="-"/>
            </a:pPr>
            <a:r>
              <a:rPr lang="pt-BR" sz="2200"/>
              <a:t>Realizar predições.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Rede Neural</a:t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311725" y="1505700"/>
            <a:ext cx="3336600" cy="300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/>
              <a:t>Estrutura:</a:t>
            </a:r>
            <a:endParaRPr sz="2100"/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-"/>
            </a:pPr>
            <a:r>
              <a:rPr lang="pt-BR" sz="1700"/>
              <a:t>Neuron, perceptron ou node;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pt-BR" sz="1700"/>
              <a:t>Weight;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pt-BR" sz="1700"/>
              <a:t>Layer;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pt-BR" sz="1700"/>
              <a:t>Input;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pt-BR" sz="1700"/>
              <a:t>Output.</a:t>
            </a:r>
            <a:endParaRPr sz="1700"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1425" y="1926850"/>
            <a:ext cx="5183950" cy="2586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Feed </a:t>
            </a:r>
            <a:r>
              <a:rPr lang="pt-BR"/>
              <a:t>Forward</a:t>
            </a:r>
            <a:endParaRPr/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8600" y="1449425"/>
            <a:ext cx="5166850" cy="2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 title="CodeCogsEq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9550" y="4047900"/>
            <a:ext cx="2664900" cy="80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Funções </a:t>
            </a:r>
            <a:r>
              <a:rPr lang="pt-BR"/>
              <a:t>Ativação</a:t>
            </a:r>
            <a:r>
              <a:rPr lang="pt-BR"/>
              <a:t> - </a:t>
            </a:r>
            <a:r>
              <a:rPr lang="pt-BR"/>
              <a:t>Sigmóide</a:t>
            </a:r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9200" y="1477950"/>
            <a:ext cx="5098250" cy="3299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 title="CodeCogsEqn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500" y="2725888"/>
            <a:ext cx="2386675" cy="80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Funções Ativação - ReLU</a:t>
            </a: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1050" y="1451150"/>
            <a:ext cx="5031274" cy="329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 title="CodeCogsEq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775" y="2650825"/>
            <a:ext cx="2438400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Funções Ativação - GELu</a:t>
            </a:r>
            <a:endParaRPr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0225" y="1277025"/>
            <a:ext cx="4952101" cy="3714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 title="CodeCogsEqn (3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8563" y="2419350"/>
            <a:ext cx="16668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 title="CodeCogsEqn (5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3700" y="3154050"/>
            <a:ext cx="3276600" cy="71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Funções Ativação - Tangente Hiperbólica</a:t>
            </a:r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4900" y="1705650"/>
            <a:ext cx="5347425" cy="294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 title="CodeCogsEqn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600" y="2752575"/>
            <a:ext cx="3242850" cy="8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Funções Ativação - Softmax</a:t>
            </a:r>
            <a:endParaRPr/>
          </a:p>
        </p:txBody>
      </p:sp>
      <p:pic>
        <p:nvPicPr>
          <p:cNvPr id="121" name="Google Shape;121;p21" title="CodeCogsEq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5038" y="3647900"/>
            <a:ext cx="3139925" cy="108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 title="CodeCogsEqn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1938" y="2205275"/>
            <a:ext cx="34861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 txBox="1"/>
          <p:nvPr/>
        </p:nvSpPr>
        <p:spPr>
          <a:xfrm>
            <a:off x="942175" y="1486800"/>
            <a:ext cx="7259700" cy="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Seja um vetor formado por valores dos neurônios da layer anterior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1594075" y="2929413"/>
            <a:ext cx="5955900" cy="5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Então a função ativação softmax é definida como sendo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Função Custo (Loss Function)</a:t>
            </a:r>
            <a:endParaRPr/>
          </a:p>
        </p:txBody>
      </p:sp>
      <p:sp>
        <p:nvSpPr>
          <p:cNvPr id="130" name="Google Shape;130;p22"/>
          <p:cNvSpPr txBox="1"/>
          <p:nvPr/>
        </p:nvSpPr>
        <p:spPr>
          <a:xfrm>
            <a:off x="1136238" y="1523850"/>
            <a:ext cx="68715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função custo ou Loss Function vai nos dizer o quão longe estamos do nosso alvo, existe diversas maneiras de calcular porém a mais tradicional é chamada de MSE (Mean Square Error).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1" name="Google Shape;131;p22" title="CodeCogsEqn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6975" y="2512975"/>
            <a:ext cx="4010025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2"/>
          <p:cNvSpPr txBox="1"/>
          <p:nvPr/>
        </p:nvSpPr>
        <p:spPr>
          <a:xfrm>
            <a:off x="1505838" y="3884425"/>
            <a:ext cx="6132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Queremos que a função custo seja a menor possível, pois quanto mais perto do zero ela está, mais perto estaremos do nosso alvo.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Outras Funções Custo</a:t>
            </a:r>
            <a:endParaRPr/>
          </a:p>
        </p:txBody>
      </p:sp>
      <p:pic>
        <p:nvPicPr>
          <p:cNvPr id="138" name="Google Shape;138;p23" title="CodeCogsEq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475" y="2269375"/>
            <a:ext cx="436245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3" title="CodeCogsEqn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475" y="3719800"/>
            <a:ext cx="8371849" cy="110648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3"/>
          <p:cNvSpPr txBox="1"/>
          <p:nvPr/>
        </p:nvSpPr>
        <p:spPr>
          <a:xfrm>
            <a:off x="830475" y="1392775"/>
            <a:ext cx="7045500" cy="4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Existem diversos tipos de função custo, algumas outra mais utilizadas são 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" name="Google Shape;141;p23"/>
          <p:cNvSpPr txBox="1"/>
          <p:nvPr/>
        </p:nvSpPr>
        <p:spPr>
          <a:xfrm>
            <a:off x="460475" y="1857175"/>
            <a:ext cx="2513700" cy="4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Cross Entropy Loss</a:t>
            </a:r>
            <a:endParaRPr b="1" sz="1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3"/>
          <p:cNvSpPr txBox="1"/>
          <p:nvPr/>
        </p:nvSpPr>
        <p:spPr>
          <a:xfrm>
            <a:off x="527475" y="3180425"/>
            <a:ext cx="2513700" cy="4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Huber Loss</a:t>
            </a:r>
            <a:endParaRPr b="1" sz="1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Back Propagation</a:t>
            </a:r>
            <a:endParaRPr/>
          </a:p>
        </p:txBody>
      </p:sp>
      <p:sp>
        <p:nvSpPr>
          <p:cNvPr id="148" name="Google Shape;148;p24"/>
          <p:cNvSpPr txBox="1"/>
          <p:nvPr/>
        </p:nvSpPr>
        <p:spPr>
          <a:xfrm>
            <a:off x="254500" y="1433225"/>
            <a:ext cx="8520600" cy="8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Queremos minimizar a função custo, para isto devemos encontrar os pesos e bias que minimizam a função custo. Para isto a seguinte condição deve ser satisfeita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9" name="Google Shape;149;p24" title="CodeCogsEqn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9950" y="2303825"/>
            <a:ext cx="1409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4" title="CodeCogsEqn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2800" y="2921750"/>
            <a:ext cx="29718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4" title="CodeCogsEqn (3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31475" y="2745225"/>
            <a:ext cx="2452900" cy="87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4" title="CodeCogsEqn (8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76600" y="3787825"/>
            <a:ext cx="2590800" cy="9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Back Propagation</a:t>
            </a:r>
            <a:endParaRPr/>
          </a:p>
        </p:txBody>
      </p:sp>
      <p:pic>
        <p:nvPicPr>
          <p:cNvPr id="158" name="Google Shape;158;p25" title="CodeCogsEqn (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25" y="1544925"/>
            <a:ext cx="3631983" cy="829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5" title="CodeCogsEqn (9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6275" y="1568500"/>
            <a:ext cx="2111341" cy="82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5" title="CodeCogsEqn (10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29150" y="2667400"/>
            <a:ext cx="4885745" cy="82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5"/>
          <p:cNvSpPr txBox="1"/>
          <p:nvPr/>
        </p:nvSpPr>
        <p:spPr>
          <a:xfrm>
            <a:off x="2033725" y="3710275"/>
            <a:ext cx="5076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Então podemos realizar seguinte atualização do peso 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2" name="Google Shape;162;p25" title="CodeCogsEqn (12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28950" y="4119875"/>
            <a:ext cx="3086100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Back Propagation</a:t>
            </a:r>
            <a:endParaRPr/>
          </a:p>
        </p:txBody>
      </p:sp>
      <p:pic>
        <p:nvPicPr>
          <p:cNvPr id="168" name="Google Shape;168;p26" title="CodeCogsEq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075" y="1648025"/>
            <a:ext cx="5334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6" title="CodeCogsEqn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750" y="2571750"/>
            <a:ext cx="1038225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6" title="CodeCogsEqn (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050" y="3781800"/>
            <a:ext cx="4487350" cy="94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6" title="CodeCogsEqn (3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89125" y="3925313"/>
            <a:ext cx="224790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6"/>
          <p:cNvSpPr txBox="1"/>
          <p:nvPr/>
        </p:nvSpPr>
        <p:spPr>
          <a:xfrm>
            <a:off x="1192125" y="1727900"/>
            <a:ext cx="33798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i-</a:t>
            </a:r>
            <a:r>
              <a:rPr lang="pt-BR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ésimo</a:t>
            </a:r>
            <a:r>
              <a:rPr lang="pt-BR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neurônio na layer n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1423975" y="2549000"/>
            <a:ext cx="7228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Peso conectando o k-ésimo neurônio na layer n-1 com o j-ésimo neurônio na layer n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Back Propagation</a:t>
            </a:r>
            <a:endParaRPr/>
          </a:p>
        </p:txBody>
      </p:sp>
      <p:pic>
        <p:nvPicPr>
          <p:cNvPr id="179" name="Google Shape;179;p27" title="CodeCogsEqn (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475" y="3530275"/>
            <a:ext cx="8353124" cy="1151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7"/>
          <p:cNvSpPr txBox="1"/>
          <p:nvPr/>
        </p:nvSpPr>
        <p:spPr>
          <a:xfrm>
            <a:off x="937625" y="1473400"/>
            <a:ext cx="74073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variação da função custo para um peso qualquer é dada por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1" name="Google Shape;181;p27" title="CodeCogsEqn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3513" y="2029050"/>
            <a:ext cx="3356975" cy="108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Back Propagation</a:t>
            </a:r>
            <a:endParaRPr/>
          </a:p>
        </p:txBody>
      </p:sp>
      <p:pic>
        <p:nvPicPr>
          <p:cNvPr id="187" name="Google Shape;187;p28" title="CodeCogsEqn (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7450" y="2021675"/>
            <a:ext cx="4610100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8"/>
          <p:cNvSpPr txBox="1"/>
          <p:nvPr/>
        </p:nvSpPr>
        <p:spPr>
          <a:xfrm>
            <a:off x="311725" y="1465925"/>
            <a:ext cx="32415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Definindo uma nova matriz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8"/>
          <p:cNvSpPr txBox="1"/>
          <p:nvPr/>
        </p:nvSpPr>
        <p:spPr>
          <a:xfrm>
            <a:off x="311725" y="2837225"/>
            <a:ext cx="32415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Portanto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0" name="Google Shape;190;p28" title="CodeCogsEqn (9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975" y="3514350"/>
            <a:ext cx="8420100" cy="130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Back Propagation</a:t>
            </a:r>
            <a:endParaRPr/>
          </a:p>
        </p:txBody>
      </p:sp>
      <p:sp>
        <p:nvSpPr>
          <p:cNvPr id="196" name="Google Shape;196;p29"/>
          <p:cNvSpPr txBox="1"/>
          <p:nvPr/>
        </p:nvSpPr>
        <p:spPr>
          <a:xfrm>
            <a:off x="311725" y="1888550"/>
            <a:ext cx="11385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Quando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7" name="Google Shape;197;p29" title="CodeCogsEqn (10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5250" y="1888625"/>
            <a:ext cx="1830000" cy="55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9" title="CodeCogsEq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7722" y="1611825"/>
            <a:ext cx="3406350" cy="110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9" title="CodeCogsEqn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7725" y="3335225"/>
            <a:ext cx="2215250" cy="110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9"/>
          <p:cNvSpPr txBox="1"/>
          <p:nvPr/>
        </p:nvSpPr>
        <p:spPr>
          <a:xfrm>
            <a:off x="311725" y="3574638"/>
            <a:ext cx="11385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Quando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1" name="Google Shape;201;p29" title="CodeCogsEqn (2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05250" y="3628600"/>
            <a:ext cx="1138500" cy="520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Back Propagation</a:t>
            </a:r>
            <a:endParaRPr/>
          </a:p>
        </p:txBody>
      </p:sp>
      <p:sp>
        <p:nvSpPr>
          <p:cNvPr id="207" name="Google Shape;207;p30"/>
          <p:cNvSpPr txBox="1"/>
          <p:nvPr/>
        </p:nvSpPr>
        <p:spPr>
          <a:xfrm>
            <a:off x="311725" y="1513575"/>
            <a:ext cx="5009700" cy="7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Podemos também definir o seguinte vetor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8" name="Google Shape;208;p30" title="CodeCogsEqn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9925" y="2120188"/>
            <a:ext cx="3464125" cy="90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0"/>
          <p:cNvSpPr txBox="1"/>
          <p:nvPr/>
        </p:nvSpPr>
        <p:spPr>
          <a:xfrm>
            <a:off x="544500" y="3085800"/>
            <a:ext cx="24960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Portanto, obtemos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0" name="Google Shape;210;p30" title="CodeCogsEqn (6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7263" y="3709500"/>
            <a:ext cx="2589519" cy="11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MNIST</a:t>
            </a:r>
            <a:endParaRPr/>
          </a:p>
        </p:txBody>
      </p:sp>
      <p:sp>
        <p:nvSpPr>
          <p:cNvPr id="216" name="Google Shape;216;p31"/>
          <p:cNvSpPr txBox="1"/>
          <p:nvPr/>
        </p:nvSpPr>
        <p:spPr>
          <a:xfrm>
            <a:off x="723300" y="1580525"/>
            <a:ext cx="7742100" cy="5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Uma das primeiras aplicações é o MNIST (Modified National Institute of Standards and Technology)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7" name="Google Shape;21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5623" y="2469725"/>
            <a:ext cx="4632749" cy="229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Convolutional</a:t>
            </a:r>
            <a:r>
              <a:rPr lang="pt-BR"/>
              <a:t> Neural Network (CNN)</a:t>
            </a:r>
            <a:endParaRPr/>
          </a:p>
        </p:txBody>
      </p:sp>
      <p:pic>
        <p:nvPicPr>
          <p:cNvPr id="223" name="Google Shape;223;p32" title="CodeCogsEq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4075" y="1982275"/>
            <a:ext cx="4372275" cy="72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2"/>
          <p:cNvSpPr txBox="1"/>
          <p:nvPr/>
        </p:nvSpPr>
        <p:spPr>
          <a:xfrm>
            <a:off x="311725" y="1500175"/>
            <a:ext cx="27726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Convolutional equation:</a:t>
            </a:r>
            <a:endParaRPr sz="1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5" name="Google Shape;225;p32" title="Convolution_schematic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3988" y="2705325"/>
            <a:ext cx="3076015" cy="224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Convolutional Neural Network (CNN)</a:t>
            </a:r>
            <a:endParaRPr/>
          </a:p>
        </p:txBody>
      </p:sp>
      <p:pic>
        <p:nvPicPr>
          <p:cNvPr id="231" name="Google Shape;23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9225" y="2094100"/>
            <a:ext cx="57531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3" title="CodeCogsEqn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800" y="2777200"/>
            <a:ext cx="2647950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Convolutional Neural Network (CNN)</a:t>
            </a:r>
            <a:endParaRPr/>
          </a:p>
        </p:txBody>
      </p:sp>
      <p:pic>
        <p:nvPicPr>
          <p:cNvPr id="238" name="Google Shape;23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5500" y="1665450"/>
            <a:ext cx="4953000" cy="28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Convolutional Neural Network (CNN)</a:t>
            </a:r>
            <a:endParaRPr/>
          </a:p>
        </p:txBody>
      </p:sp>
      <p:pic>
        <p:nvPicPr>
          <p:cNvPr id="244" name="Google Shape;24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0950" y="1591500"/>
            <a:ext cx="6290375" cy="336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