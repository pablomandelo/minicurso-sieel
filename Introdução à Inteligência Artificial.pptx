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Playfair Display"/>
      <p:regular r:id="rId28"/>
      <p:bold r:id="rId29"/>
      <p:italic r:id="rId30"/>
      <p:boldItalic r:id="rId31"/>
    </p:embeddedFont>
    <p:embeddedFont>
      <p:font typeface="Lato"/>
      <p:regular r:id="rId32"/>
      <p:bold r:id="rId33"/>
      <p:italic r:id="rId34"/>
      <p:boldItalic r:id="rId35"/>
    </p:embeddedFont>
    <p:embeddedFont>
      <p:font typeface="Noto Sans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PlayfairDisplay-regular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layfairDisplay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layfairDisplay-boldItalic.fntdata"/><Relationship Id="rId30" Type="http://schemas.openxmlformats.org/officeDocument/2006/relationships/font" Target="fonts/PlayfairDisplay-italic.fntdata"/><Relationship Id="rId11" Type="http://schemas.openxmlformats.org/officeDocument/2006/relationships/slide" Target="slides/slide6.xml"/><Relationship Id="rId33" Type="http://schemas.openxmlformats.org/officeDocument/2006/relationships/font" Target="fonts/Lato-bold.fntdata"/><Relationship Id="rId10" Type="http://schemas.openxmlformats.org/officeDocument/2006/relationships/slide" Target="slides/slide5.xml"/><Relationship Id="rId32" Type="http://schemas.openxmlformats.org/officeDocument/2006/relationships/font" Target="fonts/Lato-regular.fntdata"/><Relationship Id="rId13" Type="http://schemas.openxmlformats.org/officeDocument/2006/relationships/slide" Target="slides/slide8.xml"/><Relationship Id="rId35" Type="http://schemas.openxmlformats.org/officeDocument/2006/relationships/font" Target="fonts/Lato-boldItalic.fntdata"/><Relationship Id="rId12" Type="http://schemas.openxmlformats.org/officeDocument/2006/relationships/slide" Target="slides/slide7.xml"/><Relationship Id="rId34" Type="http://schemas.openxmlformats.org/officeDocument/2006/relationships/font" Target="fonts/Lato-italic.fntdata"/><Relationship Id="rId15" Type="http://schemas.openxmlformats.org/officeDocument/2006/relationships/slide" Target="slides/slide10.xml"/><Relationship Id="rId37" Type="http://schemas.openxmlformats.org/officeDocument/2006/relationships/font" Target="fonts/NotoSans-bold.fntdata"/><Relationship Id="rId14" Type="http://schemas.openxmlformats.org/officeDocument/2006/relationships/slide" Target="slides/slide9.xml"/><Relationship Id="rId36" Type="http://schemas.openxmlformats.org/officeDocument/2006/relationships/font" Target="fonts/NotoSans-regular.fntdata"/><Relationship Id="rId17" Type="http://schemas.openxmlformats.org/officeDocument/2006/relationships/slide" Target="slides/slide12.xml"/><Relationship Id="rId39" Type="http://schemas.openxmlformats.org/officeDocument/2006/relationships/font" Target="fonts/NotoSans-boldItalic.fntdata"/><Relationship Id="rId16" Type="http://schemas.openxmlformats.org/officeDocument/2006/relationships/slide" Target="slides/slide11.xml"/><Relationship Id="rId38" Type="http://schemas.openxmlformats.org/officeDocument/2006/relationships/font" Target="fonts/NotoSans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3d3753e13d802788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h3d3753e13d802788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3d3753e13d8027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3d3753e13d8027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3d3753e13d802788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3d3753e13d802788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h3d3753e13d802788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h3d3753e13d802788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h3d3753e13d802788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h3d3753e13d802788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3d3753e13d802788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h3d3753e13d802788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3d3753e13d802788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3d3753e13d802788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3d3753e13d80278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h3d3753e13d80278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h3d3753e13d802788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h3d3753e13d802788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3d3753e13d80278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h3d3753e13d80278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h3d3753e13d802788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h3d3753e13d802788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h3d3753e13d80278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h3d3753e13d80278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3d3753e13d802788_0_1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h3d3753e13d802788_0_1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3d3753e13d802788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h3d3753e13d80278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15c93a90eb5bd8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h15c93a90eb5bd8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50297baf765032c8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h50297baf765032c8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h3d3753e13d802788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h3d3753e13d802788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h3d3753e13d802788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h3d3753e13d802788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h3d3753e13d802788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h3d3753e13d802788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50297baf765032c8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h50297baf765032c8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h50297baf765032c8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h50297baf765032c8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9050" y="748800"/>
            <a:ext cx="3645900" cy="3645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2992950" y="992700"/>
            <a:ext cx="3158100" cy="315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91378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107950"/>
            <a:ext cx="4045200" cy="16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29194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Introduç</a:t>
            </a:r>
            <a:r>
              <a:rPr lang="pt-BR"/>
              <a:t>ão à Inteligência Artificial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Quem sou eu</a:t>
            </a:r>
            <a:r>
              <a:rPr lang="pt-BR"/>
              <a:t>?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311700" y="1152475"/>
            <a:ext cx="5207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Ci</a:t>
            </a:r>
            <a:r>
              <a:rPr lang="pt-BR"/>
              <a:t>ência da Computação - IFSuldeMinas (2018 - 2021)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Mestrado em Física - UFSCar (2022 - 2025)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Doutoranda em Física - UFSCar (2025 - atual)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Pesquisas em computação Quântica, com ênfase em Algoritmos de Otimização e Inteligência Artificial em geral.</a:t>
            </a:r>
            <a:endParaRPr/>
          </a:p>
        </p:txBody>
      </p:sp>
      <p:sp>
        <p:nvSpPr>
          <p:cNvPr id="67" name="Google Shape;67;p14"/>
          <p:cNvSpPr txBox="1"/>
          <p:nvPr>
            <p:ph idx="2" type="body"/>
          </p:nvPr>
        </p:nvSpPr>
        <p:spPr>
          <a:xfrm>
            <a:off x="6148075" y="1152475"/>
            <a:ext cx="2684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>
            <p:ph type="title"/>
          </p:nvPr>
        </p:nvSpPr>
        <p:spPr>
          <a:xfrm>
            <a:off x="279850" y="412300"/>
            <a:ext cx="71787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Diferença entre IA, ML, Deep Learning e Redes Neurais</a:t>
            </a:r>
            <a:endParaRPr/>
          </a:p>
        </p:txBody>
      </p:sp>
      <p:pic>
        <p:nvPicPr>
          <p:cNvPr id="73" name="Google Shape;73;p15"/>
          <p:cNvPicPr preferRelativeResize="0"/>
          <p:nvPr/>
        </p:nvPicPr>
        <p:blipFill rotWithShape="1">
          <a:blip r:embed="rId3">
            <a:alphaModFix/>
          </a:blip>
          <a:srcRect b="52580" l="19323" r="24605" t="16925"/>
          <a:stretch/>
        </p:blipFill>
        <p:spPr>
          <a:xfrm>
            <a:off x="4635700" y="1266400"/>
            <a:ext cx="4164176" cy="3204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title"/>
          </p:nvPr>
        </p:nvSpPr>
        <p:spPr>
          <a:xfrm>
            <a:off x="279850" y="412300"/>
            <a:ext cx="71787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Diferença entre IA, ML, Deep Learning e Redes Neurais</a:t>
            </a:r>
            <a:endParaRPr/>
          </a:p>
        </p:txBody>
      </p:sp>
      <p:sp>
        <p:nvSpPr>
          <p:cNvPr id="79" name="Google Shape;79;p16"/>
          <p:cNvSpPr txBox="1"/>
          <p:nvPr>
            <p:ph idx="1" type="body"/>
          </p:nvPr>
        </p:nvSpPr>
        <p:spPr>
          <a:xfrm>
            <a:off x="311700" y="1389600"/>
            <a:ext cx="32247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Inteligência Artificial: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Algoritmos que “simulam” o raciocínio humano;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Sistemas de tomada de decisões inteligentes, evoluídos;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Exemplos: </a:t>
            </a:r>
            <a:r>
              <a:rPr lang="pt-BR"/>
              <a:t>árvores de decisão, bio-inspirados, heurísticas, métodos estocásticos…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 sz="1000"/>
              <a:t>Não há consenso sobre a definição.</a:t>
            </a:r>
            <a:endParaRPr sz="1000"/>
          </a:p>
        </p:txBody>
      </p:sp>
      <p:pic>
        <p:nvPicPr>
          <p:cNvPr id="80" name="Google Shape;80;p16"/>
          <p:cNvPicPr preferRelativeResize="0"/>
          <p:nvPr/>
        </p:nvPicPr>
        <p:blipFill rotWithShape="1">
          <a:blip r:embed="rId3">
            <a:alphaModFix/>
          </a:blip>
          <a:srcRect b="52580" l="19323" r="24605" t="16925"/>
          <a:stretch/>
        </p:blipFill>
        <p:spPr>
          <a:xfrm>
            <a:off x="4635700" y="1266400"/>
            <a:ext cx="4164176" cy="3204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279850" y="412300"/>
            <a:ext cx="71787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Diferença entre IA, ML, Deep Learning e Redes Neurais</a:t>
            </a:r>
            <a:endParaRPr/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311700" y="1389600"/>
            <a:ext cx="32247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An</a:t>
            </a:r>
            <a:r>
              <a:rPr lang="pt-BR"/>
              <a:t>álise de dados: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Programação + estatística;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Tratamento inicial dos dados;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Dicas iniciais para a escolha do método e dos parâmetros</a:t>
            </a:r>
            <a:endParaRPr/>
          </a:p>
        </p:txBody>
      </p:sp>
      <p:pic>
        <p:nvPicPr>
          <p:cNvPr id="87" name="Google Shape;87;p17"/>
          <p:cNvPicPr preferRelativeResize="0"/>
          <p:nvPr/>
        </p:nvPicPr>
        <p:blipFill rotWithShape="1">
          <a:blip r:embed="rId3">
            <a:alphaModFix/>
          </a:blip>
          <a:srcRect b="52580" l="19323" r="24605" t="16925"/>
          <a:stretch/>
        </p:blipFill>
        <p:spPr>
          <a:xfrm>
            <a:off x="4635700" y="1266400"/>
            <a:ext cx="4164176" cy="3204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type="title"/>
          </p:nvPr>
        </p:nvSpPr>
        <p:spPr>
          <a:xfrm>
            <a:off x="279850" y="412300"/>
            <a:ext cx="71787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Diferença entre IA, ML, Deep Learning e Redes Neurais</a:t>
            </a:r>
            <a:endParaRPr/>
          </a:p>
        </p:txBody>
      </p:sp>
      <p:sp>
        <p:nvSpPr>
          <p:cNvPr id="93" name="Google Shape;93;p18"/>
          <p:cNvSpPr txBox="1"/>
          <p:nvPr>
            <p:ph idx="1" type="body"/>
          </p:nvPr>
        </p:nvSpPr>
        <p:spPr>
          <a:xfrm>
            <a:off x="311700" y="1389600"/>
            <a:ext cx="32247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Aprendizado de M</a:t>
            </a:r>
            <a:r>
              <a:rPr lang="pt-BR"/>
              <a:t>áquina</a:t>
            </a:r>
            <a:r>
              <a:rPr lang="pt-BR"/>
              <a:t>: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Ajuste de par</a:t>
            </a:r>
            <a:r>
              <a:rPr lang="pt-BR"/>
              <a:t>âmetros do modelo a partir de uma base de dados do problema;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Busca por padrões e correlações;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Exemplo: redes neurais</a:t>
            </a:r>
            <a:endParaRPr/>
          </a:p>
        </p:txBody>
      </p:sp>
      <p:pic>
        <p:nvPicPr>
          <p:cNvPr id="94" name="Google Shape;94;p18"/>
          <p:cNvPicPr preferRelativeResize="0"/>
          <p:nvPr/>
        </p:nvPicPr>
        <p:blipFill rotWithShape="1">
          <a:blip r:embed="rId3">
            <a:alphaModFix/>
          </a:blip>
          <a:srcRect b="52580" l="19323" r="24605" t="16925"/>
          <a:stretch/>
        </p:blipFill>
        <p:spPr>
          <a:xfrm>
            <a:off x="4635700" y="1266400"/>
            <a:ext cx="4164176" cy="3204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>
            <p:ph type="title"/>
          </p:nvPr>
        </p:nvSpPr>
        <p:spPr>
          <a:xfrm>
            <a:off x="279850" y="412300"/>
            <a:ext cx="71529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Diferença entre IA, ML, Deep Learning e Redes Neurais</a:t>
            </a:r>
            <a:endParaRPr/>
          </a:p>
        </p:txBody>
      </p:sp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311700" y="1389600"/>
            <a:ext cx="3646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Redes Neurais: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Inspirado na estrutura cerebral;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Modelo de algoritmo que utiliza dados para ajustar os pesos de um grafo, juntamente com par</a:t>
            </a:r>
            <a:r>
              <a:rPr lang="pt-BR"/>
              <a:t>âmetros iniciais, para aprender uma função que descreve o comportamento do problema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 sz="1000"/>
              <a:t>Mais detalhes nos próximos capítulos…</a:t>
            </a:r>
            <a:endParaRPr sz="1000"/>
          </a:p>
        </p:txBody>
      </p:sp>
      <p:pic>
        <p:nvPicPr>
          <p:cNvPr id="101" name="Google Shape;101;p19"/>
          <p:cNvPicPr preferRelativeResize="0"/>
          <p:nvPr/>
        </p:nvPicPr>
        <p:blipFill rotWithShape="1">
          <a:blip r:embed="rId3">
            <a:alphaModFix/>
          </a:blip>
          <a:srcRect b="52580" l="19323" r="24605" t="16925"/>
          <a:stretch/>
        </p:blipFill>
        <p:spPr>
          <a:xfrm>
            <a:off x="4635700" y="1266400"/>
            <a:ext cx="4164176" cy="320445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5853475" y="3394525"/>
            <a:ext cx="1215000" cy="589200"/>
          </a:xfrm>
          <a:prstGeom prst="ellipse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Times New Roman"/>
                <a:ea typeface="Times New Roman"/>
                <a:cs typeface="Times New Roman"/>
                <a:sym typeface="Times New Roman"/>
              </a:rPr>
              <a:t>Redes Neurais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279850" y="412300"/>
            <a:ext cx="73596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Diferença entre IA, ML, Deep Learning e Redes Neurais</a:t>
            </a:r>
            <a:endParaRPr/>
          </a:p>
        </p:txBody>
      </p:sp>
      <p:sp>
        <p:nvSpPr>
          <p:cNvPr id="108" name="Google Shape;108;p20"/>
          <p:cNvSpPr txBox="1"/>
          <p:nvPr>
            <p:ph idx="1" type="body"/>
          </p:nvPr>
        </p:nvSpPr>
        <p:spPr>
          <a:xfrm>
            <a:off x="311700" y="1389600"/>
            <a:ext cx="38097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Aprendizado Profundo: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método de aprendizagem que se utiliza de vários níveis de transformações;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pt-BR"/>
              <a:t>Geralmente usa-se Redes Neurais Profundas</a:t>
            </a:r>
            <a:endParaRPr/>
          </a:p>
        </p:txBody>
      </p:sp>
      <p:pic>
        <p:nvPicPr>
          <p:cNvPr id="109" name="Google Shape;109;p20"/>
          <p:cNvPicPr preferRelativeResize="0"/>
          <p:nvPr/>
        </p:nvPicPr>
        <p:blipFill rotWithShape="1">
          <a:blip r:embed="rId3">
            <a:alphaModFix/>
          </a:blip>
          <a:srcRect b="52580" l="19323" r="24605" t="16925"/>
          <a:stretch/>
        </p:blipFill>
        <p:spPr>
          <a:xfrm>
            <a:off x="4635700" y="1266400"/>
            <a:ext cx="4164176" cy="320445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5853475" y="3394525"/>
            <a:ext cx="1215000" cy="589200"/>
          </a:xfrm>
          <a:prstGeom prst="ellipse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Times New Roman"/>
                <a:ea typeface="Times New Roman"/>
                <a:cs typeface="Times New Roman"/>
                <a:sym typeface="Times New Roman"/>
              </a:rPr>
              <a:t>Redes Neurais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Primeiro, os dados</a:t>
            </a:r>
            <a:endParaRPr/>
          </a:p>
        </p:txBody>
      </p:sp>
      <p:sp>
        <p:nvSpPr>
          <p:cNvPr id="116" name="Google Shape;11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Limpeza dos dados: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Vari</a:t>
            </a:r>
            <a:r>
              <a:rPr lang="pt-BR"/>
              <a:t>áveis que serão utilizadas;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Linhas e valores nulos ou “corrompidos”;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Formatos dos dados aceito pelo algoritmo (atenção aos timestamps!);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Conversão de classes para binários;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Primeiro, os dados</a:t>
            </a:r>
            <a:endParaRPr/>
          </a:p>
        </p:txBody>
      </p:sp>
      <p:sp>
        <p:nvSpPr>
          <p:cNvPr id="122" name="Google Shape;122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Limpeza dos dados: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Variáveis que serão utilizadas;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Linhas e valores nulos ou “corrompidos”;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Formatos dos dados aceito pelo algoritmo (atenção aos timestamps!);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Conversão de classes para binários;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que </a:t>
            </a:r>
            <a:r>
              <a:rPr lang="pt-BR"/>
              <a:t>é aprendizado?</a:t>
            </a:r>
            <a:endParaRPr/>
          </a:p>
        </p:txBody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311700" y="1152475"/>
            <a:ext cx="3974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/>
              <a:t>A maioria baseia-se em ajustar pesos e par</a:t>
            </a:r>
            <a:r>
              <a:rPr lang="pt-BR" sz="1600"/>
              <a:t>âmetros para encontrar a equação que descreve o comportamento do problema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129" name="Google Shape;12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2168" y="1152475"/>
            <a:ext cx="3612557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que é aprendizado?</a:t>
            </a:r>
            <a:endParaRPr/>
          </a:p>
        </p:txBody>
      </p:sp>
      <p:sp>
        <p:nvSpPr>
          <p:cNvPr id="135" name="Google Shape;135;p24"/>
          <p:cNvSpPr txBox="1"/>
          <p:nvPr>
            <p:ph idx="1" type="body"/>
          </p:nvPr>
        </p:nvSpPr>
        <p:spPr>
          <a:xfrm>
            <a:off x="311700" y="1152475"/>
            <a:ext cx="3974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/>
              <a:t>A maioria baseia-se em ajustar pesos e parâmetros para encontrar a equação que descreve o comportamento do problema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136" name="Google Shape;13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2168" y="1152475"/>
            <a:ext cx="3612557" cy="341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4"/>
          <p:cNvSpPr txBox="1"/>
          <p:nvPr/>
        </p:nvSpPr>
        <p:spPr>
          <a:xfrm>
            <a:off x="946500" y="2866025"/>
            <a:ext cx="3339900" cy="15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accent1"/>
                </a:solidFill>
                <a:latin typeface="Noto Sans"/>
                <a:ea typeface="Noto Sans"/>
                <a:cs typeface="Noto Sans"/>
                <a:sym typeface="Noto Sans"/>
              </a:rPr>
              <a:t>Supervisionado</a:t>
            </a:r>
            <a:endParaRPr sz="1800">
              <a:solidFill>
                <a:schemeClr val="accen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accen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accen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accen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accent1"/>
                </a:solidFill>
                <a:latin typeface="Noto Sans"/>
                <a:ea typeface="Noto Sans"/>
                <a:cs typeface="Noto Sans"/>
                <a:sym typeface="Noto Sans"/>
              </a:rPr>
              <a:t>Não Supervisionado</a:t>
            </a:r>
            <a:endParaRPr sz="1800">
              <a:solidFill>
                <a:schemeClr val="accen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38" name="Google Shape;13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0762" y="3307188"/>
            <a:ext cx="691375" cy="71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Aprendizado Supervisionado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Usado para problemas de onde j</a:t>
            </a:r>
            <a:r>
              <a:rPr lang="pt-BR"/>
              <a:t>á se conhece a “regra” para a resposta;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Os dados agem como um “professor”, direcionando as respostas certas;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3">
            <a:alphaModFix/>
          </a:blip>
          <a:srcRect b="-4526" l="8922" r="10192" t="0"/>
          <a:stretch/>
        </p:blipFill>
        <p:spPr>
          <a:xfrm>
            <a:off x="1168125" y="2571750"/>
            <a:ext cx="6635873" cy="226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Aprendizado Supervisionado - </a:t>
            </a:r>
            <a:r>
              <a:rPr lang="pt-BR"/>
              <a:t>Classificaç</a:t>
            </a:r>
            <a:r>
              <a:rPr lang="pt-BR"/>
              <a:t>ão</a:t>
            </a:r>
            <a:endParaRPr/>
          </a:p>
        </p:txBody>
      </p:sp>
      <p:sp>
        <p:nvSpPr>
          <p:cNvPr id="151" name="Google Shape;151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Algoritmo KNN - K-Nearest Neighbors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2" name="Google Shape;15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6650" y="2060874"/>
            <a:ext cx="7730700" cy="245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7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Aprendizado n</a:t>
            </a:r>
            <a:r>
              <a:rPr lang="pt-BR"/>
              <a:t>ão Supervisionado</a:t>
            </a:r>
            <a:endParaRPr/>
          </a:p>
        </p:txBody>
      </p:sp>
      <p:sp>
        <p:nvSpPr>
          <p:cNvPr id="158" name="Google Shape;158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N</a:t>
            </a:r>
            <a:r>
              <a:rPr lang="pt-BR"/>
              <a:t>ão existem labels para orientar o aprendizado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O algoritmo deve buscar as similaridades e padrões dentro dos próprios dados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8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Aprendizado não Supervisionado - Clusterizaç</a:t>
            </a:r>
            <a:r>
              <a:rPr lang="pt-BR"/>
              <a:t>ão</a:t>
            </a:r>
            <a:endParaRPr/>
          </a:p>
        </p:txBody>
      </p:sp>
      <p:sp>
        <p:nvSpPr>
          <p:cNvPr id="164" name="Google Shape;164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Algoritmo K-Means</a:t>
            </a:r>
            <a:endParaRPr/>
          </a:p>
        </p:txBody>
      </p:sp>
      <p:pic>
        <p:nvPicPr>
          <p:cNvPr id="165" name="Google Shape;16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0500" y="1152475"/>
            <a:ext cx="4825625" cy="3507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9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aprendizado foi suficiente?</a:t>
            </a:r>
            <a:endParaRPr/>
          </a:p>
        </p:txBody>
      </p:sp>
      <p:sp>
        <p:nvSpPr>
          <p:cNvPr id="171" name="Google Shape;171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Overfitting</a:t>
            </a:r>
            <a:endParaRPr/>
          </a:p>
        </p:txBody>
      </p:sp>
      <p:sp>
        <p:nvSpPr>
          <p:cNvPr id="172" name="Google Shape;172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Underfitting</a:t>
            </a:r>
            <a:endParaRPr/>
          </a:p>
        </p:txBody>
      </p:sp>
      <p:pic>
        <p:nvPicPr>
          <p:cNvPr id="173" name="Google Shape;173;p29"/>
          <p:cNvPicPr preferRelativeResize="0"/>
          <p:nvPr/>
        </p:nvPicPr>
        <p:blipFill rotWithShape="1">
          <a:blip r:embed="rId3">
            <a:alphaModFix/>
          </a:blip>
          <a:srcRect b="2894" l="1683" r="52094" t="0"/>
          <a:stretch/>
        </p:blipFill>
        <p:spPr>
          <a:xfrm>
            <a:off x="4832400" y="1802700"/>
            <a:ext cx="3422113" cy="2766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Overfitting</a:t>
            </a:r>
            <a:endParaRPr/>
          </a:p>
        </p:txBody>
      </p:sp>
      <p:pic>
        <p:nvPicPr>
          <p:cNvPr id="175" name="Google Shape;175;p29"/>
          <p:cNvPicPr preferRelativeResize="0"/>
          <p:nvPr/>
        </p:nvPicPr>
        <p:blipFill rotWithShape="1">
          <a:blip r:embed="rId4">
            <a:alphaModFix/>
          </a:blip>
          <a:srcRect b="2884" l="1305" r="52420" t="0"/>
          <a:stretch/>
        </p:blipFill>
        <p:spPr>
          <a:xfrm>
            <a:off x="592550" y="1802700"/>
            <a:ext cx="3551375" cy="288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Redes Neurais</a:t>
            </a:r>
            <a:endParaRPr/>
          </a:p>
        </p:txBody>
      </p:sp>
      <p:sp>
        <p:nvSpPr>
          <p:cNvPr id="181" name="Google Shape;181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82" name="Google Shape;18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0000" y="1095125"/>
            <a:ext cx="2759500" cy="366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97550" y="1347275"/>
            <a:ext cx="1932050" cy="315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412513" y="2010176"/>
            <a:ext cx="2510075" cy="170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Redes Neurais</a:t>
            </a:r>
            <a:endParaRPr/>
          </a:p>
        </p:txBody>
      </p:sp>
      <p:sp>
        <p:nvSpPr>
          <p:cNvPr id="190" name="Google Shape;190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Axônios: linhas de transmissão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Dendritos: zonas receptivas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Espinhas </a:t>
            </a:r>
            <a:r>
              <a:rPr lang="pt-BR"/>
              <a:t>Dendríticas</a:t>
            </a:r>
            <a:r>
              <a:rPr lang="pt-BR"/>
              <a:t>: estruturas que recebem as informações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No corpo de um neurônio é codificada uma informação (saída) e enviada como pulsos breves de tensão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1" name="Google Shape;19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5750" y="1343600"/>
            <a:ext cx="2615450" cy="3470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Redes Neurais</a:t>
            </a:r>
            <a:endParaRPr/>
          </a:p>
        </p:txBody>
      </p:sp>
      <p:sp>
        <p:nvSpPr>
          <p:cNvPr id="197" name="Google Shape;197;p3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2"/>
          <p:cNvSpPr txBox="1"/>
          <p:nvPr>
            <p:ph idx="2" type="body"/>
          </p:nvPr>
        </p:nvSpPr>
        <p:spPr>
          <a:xfrm>
            <a:off x="4486675" y="1152475"/>
            <a:ext cx="4345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Os pesos sinápticos armazenam o conhecimento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A função de ativação restringe a amplitude de saída ([0,1] ou [-1,1])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pt-BR"/>
              <a:t>Dependente do comportamento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O bias é responsável por flexibilizar o ajuste dos pesos</a:t>
            </a:r>
            <a:endParaRPr/>
          </a:p>
        </p:txBody>
      </p:sp>
      <p:pic>
        <p:nvPicPr>
          <p:cNvPr id="199" name="Google Shape;19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88" y="1223950"/>
            <a:ext cx="3781425" cy="2695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3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Redes Neurais</a:t>
            </a:r>
            <a:endParaRPr/>
          </a:p>
        </p:txBody>
      </p:sp>
      <p:sp>
        <p:nvSpPr>
          <p:cNvPr id="205" name="Google Shape;205;p3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33"/>
          <p:cNvSpPr txBox="1"/>
          <p:nvPr>
            <p:ph idx="2" type="body"/>
          </p:nvPr>
        </p:nvSpPr>
        <p:spPr>
          <a:xfrm>
            <a:off x="4486675" y="1152475"/>
            <a:ext cx="4345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Os pesos sinápticos armazenam o conhecimento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A função de ativação restringe a amplitude de saída ([0,1] ou [-1,1])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pt-BR"/>
              <a:t>Dependente do comportamento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O bias é responsável por flexibilizar o ajuste dos pesos</a:t>
            </a:r>
            <a:endParaRPr/>
          </a:p>
        </p:txBody>
      </p:sp>
      <p:pic>
        <p:nvPicPr>
          <p:cNvPr id="207" name="Google Shape;20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88" y="1223950"/>
            <a:ext cx="3781425" cy="269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33"/>
          <p:cNvPicPr preferRelativeResize="0"/>
          <p:nvPr/>
        </p:nvPicPr>
        <p:blipFill rotWithShape="1">
          <a:blip r:embed="rId4">
            <a:alphaModFix/>
          </a:blip>
          <a:srcRect b="68360" l="2868" r="9948" t="1220"/>
          <a:stretch/>
        </p:blipFill>
        <p:spPr>
          <a:xfrm>
            <a:off x="3730475" y="3526250"/>
            <a:ext cx="2061450" cy="113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33"/>
          <p:cNvPicPr preferRelativeResize="0"/>
          <p:nvPr/>
        </p:nvPicPr>
        <p:blipFill rotWithShape="1">
          <a:blip r:embed="rId4">
            <a:alphaModFix/>
          </a:blip>
          <a:srcRect b="1538" l="2677" r="10139" t="66824"/>
          <a:stretch/>
        </p:blipFill>
        <p:spPr>
          <a:xfrm>
            <a:off x="6196125" y="3503550"/>
            <a:ext cx="2061450" cy="1178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Redes Neurais</a:t>
            </a:r>
            <a:endParaRPr/>
          </a:p>
        </p:txBody>
      </p:sp>
      <p:sp>
        <p:nvSpPr>
          <p:cNvPr id="215" name="Google Shape;215;p3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17" name="Google Shape;217;p34"/>
          <p:cNvPicPr preferRelativeResize="0"/>
          <p:nvPr/>
        </p:nvPicPr>
        <p:blipFill rotWithShape="1">
          <a:blip r:embed="rId3">
            <a:alphaModFix/>
          </a:blip>
          <a:srcRect b="66969" l="15355" r="18573" t="0"/>
          <a:stretch/>
        </p:blipFill>
        <p:spPr>
          <a:xfrm>
            <a:off x="469625" y="2124000"/>
            <a:ext cx="2951925" cy="154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34"/>
          <p:cNvPicPr preferRelativeResize="0"/>
          <p:nvPr/>
        </p:nvPicPr>
        <p:blipFill rotWithShape="1">
          <a:blip r:embed="rId3">
            <a:alphaModFix/>
          </a:blip>
          <a:srcRect b="0" l="0" r="0" t="32737"/>
          <a:stretch/>
        </p:blipFill>
        <p:spPr>
          <a:xfrm>
            <a:off x="3933750" y="1301300"/>
            <a:ext cx="4898550" cy="3459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