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Playfair Display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  <p:embeddedFont>
      <p:font typeface="Noto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italic.fntdata"/><Relationship Id="rId30" Type="http://schemas.openxmlformats.org/officeDocument/2006/relationships/font" Target="fonts/PlayfairDisplay-bold.fntdata"/><Relationship Id="rId11" Type="http://schemas.openxmlformats.org/officeDocument/2006/relationships/slide" Target="slides/slide6.xml"/><Relationship Id="rId33" Type="http://schemas.openxmlformats.org/officeDocument/2006/relationships/font" Target="fonts/Lato-regular.fntdata"/><Relationship Id="rId10" Type="http://schemas.openxmlformats.org/officeDocument/2006/relationships/slide" Target="slides/slide5.xml"/><Relationship Id="rId32" Type="http://schemas.openxmlformats.org/officeDocument/2006/relationships/font" Target="fonts/PlayfairDisplay-boldItalic.fntdata"/><Relationship Id="rId13" Type="http://schemas.openxmlformats.org/officeDocument/2006/relationships/slide" Target="slides/slide8.xml"/><Relationship Id="rId35" Type="http://schemas.openxmlformats.org/officeDocument/2006/relationships/font" Target="fonts/Lato-italic.fntdata"/><Relationship Id="rId12" Type="http://schemas.openxmlformats.org/officeDocument/2006/relationships/slide" Target="slides/slide7.xml"/><Relationship Id="rId34" Type="http://schemas.openxmlformats.org/officeDocument/2006/relationships/font" Target="fonts/Lato-bold.fntdata"/><Relationship Id="rId15" Type="http://schemas.openxmlformats.org/officeDocument/2006/relationships/slide" Target="slides/slide10.xml"/><Relationship Id="rId37" Type="http://schemas.openxmlformats.org/officeDocument/2006/relationships/font" Target="fonts/NotoSans-regular.fntdata"/><Relationship Id="rId14" Type="http://schemas.openxmlformats.org/officeDocument/2006/relationships/slide" Target="slides/slide9.xml"/><Relationship Id="rId36" Type="http://schemas.openxmlformats.org/officeDocument/2006/relationships/font" Target="fonts/Lato-boldItalic.fntdata"/><Relationship Id="rId17" Type="http://schemas.openxmlformats.org/officeDocument/2006/relationships/slide" Target="slides/slide12.xml"/><Relationship Id="rId39" Type="http://schemas.openxmlformats.org/officeDocument/2006/relationships/font" Target="fonts/NotoSans-italic.fntdata"/><Relationship Id="rId16" Type="http://schemas.openxmlformats.org/officeDocument/2006/relationships/slide" Target="slides/slide11.xml"/><Relationship Id="rId38" Type="http://schemas.openxmlformats.org/officeDocument/2006/relationships/font" Target="fonts/Noto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3d3753e13d80278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3d3753e13d80278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30c31ff5db491ac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30c31ff5db491ac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3d3753e13d8027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3d3753e13d8027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3d3753e13d80278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3d3753e13d80278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3d3753e13d80278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3d3753e13d80278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3d3753e13d80278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h3d3753e13d80278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3d3753e13d80278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3d3753e13d80278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3d3753e13d80278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3d3753e13d80278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3d3753e13d80278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3d3753e13d80278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3d3753e13d802788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3d3753e13d802788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3d3753e13d80278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3d3753e13d80278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3d3753e13d802788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3d3753e13d802788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3d3753e13d80278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h3d3753e13d80278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3d3753e13d802788_0_1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3d3753e13d802788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3d3753e13d80278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3d3753e13d80278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15c93a90eb5bd8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h15c93a90eb5bd8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50297baf765032c8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h50297baf765032c8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3d3753e13d80278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3d3753e13d80278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3d3753e13d80278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3d3753e13d80278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3d3753e13d802788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h3d3753e13d802788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50297baf765032c8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50297baf765032c8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50297baf765032c8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h50297baf765032c8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</a:t>
            </a:r>
            <a:r>
              <a:rPr lang="pt-BR"/>
              <a:t>ão à Inteligência Artificial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Quem somos nós</a:t>
            </a:r>
            <a:r>
              <a:rPr lang="pt-BR"/>
              <a:t>?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Ms. Amanda Gabriela Valério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Ci</a:t>
            </a:r>
            <a:r>
              <a:rPr lang="pt-BR"/>
              <a:t>ência da Computação - IFSuldeMinas (2018 - 2021)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Mestrado em Física - UFSCar (2022 - 2025)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Doutoranda em Física - UFSCar (2025 - atual)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Pesquisas em computação Quântica, com ênfase em Algoritmos de Otimização e Inteligência Artificial em geral.</a:t>
            </a:r>
            <a:endParaRPr/>
          </a:p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Ms. Pablo Nascimento Mandelo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Física Bacharelado - UFSCar</a:t>
            </a:r>
            <a:r>
              <a:rPr lang="pt-BR"/>
              <a:t> (2018 - 2022)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Mestrado em Física - IFSC - USP  (2023 - 2026)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Doutoranda em Física - IFSC - USP (2026 - atual)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Pesquisas em cromodinâmica na rede, com ênfase em redes neurais e eletrodinâmica quântica.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gente</a:t>
            </a:r>
            <a:endParaRPr/>
          </a:p>
        </p:txBody>
      </p:sp>
      <p:pic>
        <p:nvPicPr>
          <p:cNvPr id="73" name="Google Shape;73;p15" title="WhatsApp Image 2026-10-19 at 11.32.1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4863" y="1017450"/>
            <a:ext cx="2834273" cy="38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279850" y="412300"/>
            <a:ext cx="71787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Diferença entre IA, ML, Deep Learning e Redes Neurais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52580" l="19323" r="24605" t="16925"/>
          <a:stretch/>
        </p:blipFill>
        <p:spPr>
          <a:xfrm>
            <a:off x="4635700" y="1266400"/>
            <a:ext cx="4164176" cy="320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279850" y="412300"/>
            <a:ext cx="71787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Diferença entre IA, ML, Deep Learning e Redes Neurais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389600"/>
            <a:ext cx="32247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Inteligência Artificial: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Algoritmos que “simulam” o raciocínio humano;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Sistemas de tomada de decisões inteligentes, evoluídos;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Exemplos: </a:t>
            </a:r>
            <a:r>
              <a:rPr lang="pt-BR"/>
              <a:t>árvores de decisão, bio-inspirados, heurísticas, métodos estocásticos…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000"/>
              <a:t>Não há consenso sobre a definição.</a:t>
            </a:r>
            <a:endParaRPr sz="1000"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b="52580" l="19323" r="24605" t="16925"/>
          <a:stretch/>
        </p:blipFill>
        <p:spPr>
          <a:xfrm>
            <a:off x="4635700" y="1266400"/>
            <a:ext cx="4164176" cy="320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79850" y="412300"/>
            <a:ext cx="71787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Diferença entre IA, ML, Deep Learning e Redes Neurais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389600"/>
            <a:ext cx="32247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</a:t>
            </a:r>
            <a:r>
              <a:rPr lang="pt-BR"/>
              <a:t>álise de dados: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Programação + estatística;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Tratamento inicial dos dados;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Dicas iniciais para a escolha do método e dos parâmetros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3">
            <a:alphaModFix/>
          </a:blip>
          <a:srcRect b="52580" l="19323" r="24605" t="16925"/>
          <a:stretch/>
        </p:blipFill>
        <p:spPr>
          <a:xfrm>
            <a:off x="4635700" y="1266400"/>
            <a:ext cx="4164176" cy="320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279850" y="412300"/>
            <a:ext cx="71787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Diferença entre IA, ML, Deep Learning e Redes Neurais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32247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Aprendizado de M</a:t>
            </a:r>
            <a:r>
              <a:rPr lang="pt-BR"/>
              <a:t>áquina</a:t>
            </a:r>
            <a:r>
              <a:rPr lang="pt-BR"/>
              <a:t>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Ajuste de par</a:t>
            </a:r>
            <a:r>
              <a:rPr lang="pt-BR"/>
              <a:t>âmetros do modelo a partir de uma base de dados do problema;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Busca por padrões e correlações;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Exemplo: redes neurais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52580" l="19323" r="24605" t="16925"/>
          <a:stretch/>
        </p:blipFill>
        <p:spPr>
          <a:xfrm>
            <a:off x="4635700" y="1266400"/>
            <a:ext cx="4164176" cy="320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279850" y="412300"/>
            <a:ext cx="7152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Diferença entre IA, ML, Deep Learning e Redes Neurais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389600"/>
            <a:ext cx="3646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Redes Neurais: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Inspirado na estrutura cerebral;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Modelo de algoritmo que utiliza dados para ajustar os pesos de um grafo, juntamente com par</a:t>
            </a:r>
            <a:r>
              <a:rPr lang="pt-BR"/>
              <a:t>âmetros iniciais, para aprender uma função que descreve o comportamento do problema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000"/>
              <a:t>Mais detalhes nos próximos capítulos…</a:t>
            </a:r>
            <a:endParaRPr sz="1000"/>
          </a:p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b="52580" l="19323" r="24605" t="16925"/>
          <a:stretch/>
        </p:blipFill>
        <p:spPr>
          <a:xfrm>
            <a:off x="4635700" y="1266400"/>
            <a:ext cx="4164176" cy="32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/>
          <p:nvPr/>
        </p:nvSpPr>
        <p:spPr>
          <a:xfrm>
            <a:off x="5853475" y="3394525"/>
            <a:ext cx="1215000" cy="589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Redes Neurais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279850" y="412300"/>
            <a:ext cx="73596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Diferença entre IA, ML, Deep Learning e Redes Neurais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389600"/>
            <a:ext cx="38097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Aprendizado Profundo: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método de aprendizagem que se utiliza de vários níveis de transformações;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pt-BR"/>
              <a:t>Geralmente usa-se Redes Neurais Profundas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 rotWithShape="1">
          <a:blip r:embed="rId3">
            <a:alphaModFix/>
          </a:blip>
          <a:srcRect b="52580" l="19323" r="24605" t="16925"/>
          <a:stretch/>
        </p:blipFill>
        <p:spPr>
          <a:xfrm>
            <a:off x="4635700" y="1266400"/>
            <a:ext cx="4164176" cy="32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/>
          <p:nvPr/>
        </p:nvSpPr>
        <p:spPr>
          <a:xfrm>
            <a:off x="5853475" y="3394525"/>
            <a:ext cx="1215000" cy="5892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Redes Neurais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Primeiro, os dados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Limpeza dos dados: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Vari</a:t>
            </a:r>
            <a:r>
              <a:rPr lang="pt-BR"/>
              <a:t>áveis que serão utilizadas;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Linhas e valores nulos ou “corrompidos”;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Formatos dos dados aceito pelo algoritmo (atenção aos timestamps!);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Conversão de classes para binários;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Primeiro, os dados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Limpeza dos dados: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Variáveis que serão utilizadas;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Linhas e valores nulos ou “corrompidos”;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Formatos dos dados aceito pelo algoritmo (atenção aos timestamps!);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Conversão de classes para binários;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</a:t>
            </a:r>
            <a:r>
              <a:rPr lang="pt-BR"/>
              <a:t>é aprendizado?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397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A maioria baseia-se em ajustar pesos e par</a:t>
            </a:r>
            <a:r>
              <a:rPr lang="pt-BR" sz="1600"/>
              <a:t>âmetros para encontrar a equação que descreve o comportamento do problema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2168" y="1152475"/>
            <a:ext cx="361255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aprendizado?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397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A maioria baseia-se em ajustar pesos e parâmetros para encontrar a equação que descreve o comportamento do problema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2168" y="1152475"/>
            <a:ext cx="3612557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 txBox="1"/>
          <p:nvPr/>
        </p:nvSpPr>
        <p:spPr>
          <a:xfrm>
            <a:off x="946500" y="2866025"/>
            <a:ext cx="33399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1"/>
                </a:solidFill>
                <a:latin typeface="Noto Sans"/>
                <a:ea typeface="Noto Sans"/>
                <a:cs typeface="Noto Sans"/>
                <a:sym typeface="Noto Sans"/>
              </a:rPr>
              <a:t>Supervisionado</a:t>
            </a:r>
            <a:endParaRPr sz="1800">
              <a:solidFill>
                <a:schemeClr val="accen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1"/>
                </a:solidFill>
                <a:latin typeface="Noto Sans"/>
                <a:ea typeface="Noto Sans"/>
                <a:cs typeface="Noto Sans"/>
                <a:sym typeface="Noto Sans"/>
              </a:rPr>
              <a:t>Não Supervisionado</a:t>
            </a:r>
            <a:endParaRPr sz="1800">
              <a:solidFill>
                <a:schemeClr val="accen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0762" y="3307188"/>
            <a:ext cx="691375" cy="7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Aprendizado Supervisionado</a:t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Usado para problemas de onde j</a:t>
            </a:r>
            <a:r>
              <a:rPr lang="pt-BR"/>
              <a:t>á se conhece a “regra” para a resposta;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Os dados agem como um “professor”, direcionando as respostas certas;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6"/>
          <p:cNvPicPr preferRelativeResize="0"/>
          <p:nvPr/>
        </p:nvPicPr>
        <p:blipFill rotWithShape="1">
          <a:blip r:embed="rId3">
            <a:alphaModFix/>
          </a:blip>
          <a:srcRect b="-4526" l="8922" r="10192" t="0"/>
          <a:stretch/>
        </p:blipFill>
        <p:spPr>
          <a:xfrm>
            <a:off x="1168125" y="2571750"/>
            <a:ext cx="6635873" cy="226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Aprendizado Supervisionado - </a:t>
            </a:r>
            <a:r>
              <a:rPr lang="pt-BR"/>
              <a:t>Classificaç</a:t>
            </a:r>
            <a:r>
              <a:rPr lang="pt-BR"/>
              <a:t>ão</a:t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 KNN - K-Nearest Neighbors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650" y="2060874"/>
            <a:ext cx="7730700" cy="245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Aprendizado n</a:t>
            </a:r>
            <a:r>
              <a:rPr lang="pt-BR"/>
              <a:t>ão Supervisionado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</a:t>
            </a:r>
            <a:r>
              <a:rPr lang="pt-BR"/>
              <a:t>ão existem labels para orientar o aprendizado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O algoritmo deve buscar as similaridades e padrões dentro dos próprios dados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Aprendizado não Supervisionado - Clusterizaç</a:t>
            </a:r>
            <a:r>
              <a:rPr lang="pt-BR"/>
              <a:t>ão</a:t>
            </a:r>
            <a:endParaRPr/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Algoritmo K-Means</a:t>
            </a:r>
            <a:endParaRPr/>
          </a:p>
        </p:txBody>
      </p:sp>
      <p:pic>
        <p:nvPicPr>
          <p:cNvPr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500" y="1152475"/>
            <a:ext cx="4825625" cy="350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aprendizado foi suficiente?</a:t>
            </a:r>
            <a:endParaRPr/>
          </a:p>
        </p:txBody>
      </p:sp>
      <p:sp>
        <p:nvSpPr>
          <p:cNvPr id="177" name="Google Shape;177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Overfitting</a:t>
            </a:r>
            <a:endParaRPr/>
          </a:p>
        </p:txBody>
      </p:sp>
      <p:sp>
        <p:nvSpPr>
          <p:cNvPr id="178" name="Google Shape;178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Underfitting</a:t>
            </a:r>
            <a:endParaRPr/>
          </a:p>
        </p:txBody>
      </p:sp>
      <p:pic>
        <p:nvPicPr>
          <p:cNvPr id="179" name="Google Shape;179;p30"/>
          <p:cNvPicPr preferRelativeResize="0"/>
          <p:nvPr/>
        </p:nvPicPr>
        <p:blipFill rotWithShape="1">
          <a:blip r:embed="rId3">
            <a:alphaModFix/>
          </a:blip>
          <a:srcRect b="2894" l="1683" r="52094" t="0"/>
          <a:stretch/>
        </p:blipFill>
        <p:spPr>
          <a:xfrm>
            <a:off x="4832400" y="1802700"/>
            <a:ext cx="3422113" cy="276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Overfitting</a:t>
            </a:r>
            <a:endParaRPr/>
          </a:p>
        </p:txBody>
      </p:sp>
      <p:pic>
        <p:nvPicPr>
          <p:cNvPr id="181" name="Google Shape;181;p30"/>
          <p:cNvPicPr preferRelativeResize="0"/>
          <p:nvPr/>
        </p:nvPicPr>
        <p:blipFill rotWithShape="1">
          <a:blip r:embed="rId4">
            <a:alphaModFix/>
          </a:blip>
          <a:srcRect b="2884" l="1305" r="52420" t="0"/>
          <a:stretch/>
        </p:blipFill>
        <p:spPr>
          <a:xfrm>
            <a:off x="592550" y="1802700"/>
            <a:ext cx="3551375" cy="28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Redes Neurais</a:t>
            </a:r>
            <a:endParaRPr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000" y="1095125"/>
            <a:ext cx="2759500" cy="366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7550" y="1347275"/>
            <a:ext cx="1932050" cy="315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412513" y="2010176"/>
            <a:ext cx="2510075" cy="170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Redes Neurais</a:t>
            </a:r>
            <a:endParaRPr/>
          </a:p>
        </p:txBody>
      </p:sp>
      <p:sp>
        <p:nvSpPr>
          <p:cNvPr id="196" name="Google Shape;196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Axônios: linhas de transmissão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Dendritos: zonas receptivas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Espinhas </a:t>
            </a:r>
            <a:r>
              <a:rPr lang="pt-BR"/>
              <a:t>Dendríticas</a:t>
            </a:r>
            <a:r>
              <a:rPr lang="pt-BR"/>
              <a:t>: estruturas que recebem as informações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No corpo de um neurônio é codificada uma informação (saída) e enviada como pulsos breves de tensão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750" y="1343600"/>
            <a:ext cx="2615450" cy="347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Redes Neurais</a:t>
            </a:r>
            <a:endParaRPr/>
          </a:p>
        </p:txBody>
      </p:sp>
      <p:sp>
        <p:nvSpPr>
          <p:cNvPr id="203" name="Google Shape;203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3"/>
          <p:cNvSpPr txBox="1"/>
          <p:nvPr>
            <p:ph idx="2" type="body"/>
          </p:nvPr>
        </p:nvSpPr>
        <p:spPr>
          <a:xfrm>
            <a:off x="4486675" y="1152475"/>
            <a:ext cx="434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Os pesos sinápticos armazenam o conhecimento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 função de ativação restringe a amplitude de saída ([0,1] ou [-1,1])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/>
              <a:t>Dependente do comportamento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O bias é responsável por flexibilizar o ajuste dos pesos</a:t>
            </a:r>
            <a:endParaRPr/>
          </a:p>
        </p:txBody>
      </p:sp>
      <p:pic>
        <p:nvPicPr>
          <p:cNvPr id="205" name="Google Shape;20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223950"/>
            <a:ext cx="3781425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Redes Neurais</a:t>
            </a:r>
            <a:endParaRPr/>
          </a:p>
        </p:txBody>
      </p:sp>
      <p:sp>
        <p:nvSpPr>
          <p:cNvPr id="211" name="Google Shape;211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4"/>
          <p:cNvSpPr txBox="1"/>
          <p:nvPr>
            <p:ph idx="2" type="body"/>
          </p:nvPr>
        </p:nvSpPr>
        <p:spPr>
          <a:xfrm>
            <a:off x="4486675" y="1152475"/>
            <a:ext cx="434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Os pesos sinápticos armazenam o conhecimento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A função de ativação restringe a amplitude de saída ([0,1] ou [-1,1])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pt-BR"/>
              <a:t>Dependente do comportamento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O bias é responsável por flexibilizar o ajuste dos pesos</a:t>
            </a:r>
            <a:endParaRPr/>
          </a:p>
        </p:txBody>
      </p:sp>
      <p:pic>
        <p:nvPicPr>
          <p:cNvPr id="213" name="Google Shape;21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223950"/>
            <a:ext cx="3781425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4"/>
          <p:cNvPicPr preferRelativeResize="0"/>
          <p:nvPr/>
        </p:nvPicPr>
        <p:blipFill rotWithShape="1">
          <a:blip r:embed="rId4">
            <a:alphaModFix/>
          </a:blip>
          <a:srcRect b="68360" l="2868" r="9948" t="1220"/>
          <a:stretch/>
        </p:blipFill>
        <p:spPr>
          <a:xfrm>
            <a:off x="3730475" y="3526250"/>
            <a:ext cx="2061450" cy="113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4"/>
          <p:cNvPicPr preferRelativeResize="0"/>
          <p:nvPr/>
        </p:nvPicPr>
        <p:blipFill rotWithShape="1">
          <a:blip r:embed="rId4">
            <a:alphaModFix/>
          </a:blip>
          <a:srcRect b="1538" l="2677" r="10139" t="66824"/>
          <a:stretch/>
        </p:blipFill>
        <p:spPr>
          <a:xfrm>
            <a:off x="6196125" y="3503550"/>
            <a:ext cx="2061450" cy="117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Redes Neurais</a:t>
            </a:r>
            <a:endParaRPr/>
          </a:p>
        </p:txBody>
      </p:sp>
      <p:sp>
        <p:nvSpPr>
          <p:cNvPr id="221" name="Google Shape;221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35"/>
          <p:cNvPicPr preferRelativeResize="0"/>
          <p:nvPr/>
        </p:nvPicPr>
        <p:blipFill rotWithShape="1">
          <a:blip r:embed="rId3">
            <a:alphaModFix/>
          </a:blip>
          <a:srcRect b="66969" l="15355" r="18573" t="0"/>
          <a:stretch/>
        </p:blipFill>
        <p:spPr>
          <a:xfrm>
            <a:off x="469625" y="2124000"/>
            <a:ext cx="2951925" cy="154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5"/>
          <p:cNvPicPr preferRelativeResize="0"/>
          <p:nvPr/>
        </p:nvPicPr>
        <p:blipFill rotWithShape="1">
          <a:blip r:embed="rId3">
            <a:alphaModFix/>
          </a:blip>
          <a:srcRect b="0" l="0" r="0" t="32737"/>
          <a:stretch/>
        </p:blipFill>
        <p:spPr>
          <a:xfrm>
            <a:off x="3933750" y="1301300"/>
            <a:ext cx="4898550" cy="345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